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Bitta jumla bilan boshlang: biz marketplace'miz — restoran goʻshtni fermerdan bevosita oladi. «Ekotizim», «infratuzilma» degan soʻzlarni ishlatmang. Keyin darhol aytib qoʻying: mahsulot qurilgan, production'da ishlayapti, lekin hali bitta ham pul kirmagan. Bu yerda halollik — eng katta ustunligingiz.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Narx oraligʻini manba bilan ayting: Qishloq xoʻjaligi vazirligi, 2025. Bitta shahar ichida 2 barobar farq — bu shaffoflik muammosining oʻlchovi. Keyin darhol restoran egasining oʻz gapiga oʻting: statistika emas, odam gapirsin. Yana ikki jumla qoʻshing: restoran goʻshtni kimdan olayotganini bilmaydi, sertifikat esa qogʻozda — tekshirib boʻlmaydi.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oshsa, odatda mol yetishmayapti deb oʻylaymiz — bu yerda esa ishlab chiqarish ham oʻsgan. Demak, muammo yetishmovchilikda emas, taqsimotda va ishonchda: bitta shahar ichida narx 2 barobar farq qiladi. Buni ferma emas, dastur tuzatadi. Ozuqaning 60% import boʻlgani uchun narx valyutaga bogʻlanib qoladi — shuning uchun biz kg boshiga fiks haq olamiz.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deckdagi eng muhim gʻoya: 2,5 kg uchun mol soʻyib boʻlmaydi — mol butun. Shuning uchun buyurtmalar bir mol vazniga yetganda soʻyishga buyruq beriladi. Aynan shu cheklov tufayli umumiy yetkazish ilovalari bu bozorga tuzilishi sababli kira olmaydi. Ikkinchi muhim detal: kuryer oʻzi «yetkazdim» deb buyurtmani yopa olmaydi — xaridor tugmani bosadi. Va biz hech qachon goʻshtning egasi boʻlmaymiz: ombor ham, inventar ham yoʻq.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Uchta ilovani oʻzim yozdim, buyurtma 9 bosqichdan oʻtadi, backend production'da turadi va men uni ikkita real telefonda uchidan-uchiga sinab koʻrdim. Telegram orqali telefon tasdiqlash real ishlayapti. Toʻlov hali mock rejimida va App Store'da emasmiz — buni oʻzingiz ayting, investor kashf qilmasin. Traksiya haqida bitta jumla: mahsulot tayyor, mijoz yoʻq; keyingi 3 hafta ichida 20 ta restoran va 10 ta fermer bilan qoʻlda savdo qilamiz — buning uchun pul kerak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Boshdan ayting: bu «$2,6 mlrd bozor» degan TAM emas, pastdan yuqoriga hisob. Taxminan toʻrt ming restoran, har biri oyiga ikki yuz kilo. Besh yuztasi bilan ishlasak — yiliga 5,7 million dollar GMV va bizga 230 ming dollar. Butun Toshkent toʻlsa — yiliga 1,8 million dollar; shuning uchun keyingi qadam viloyatlar va B2C. Restoran soni va oylik sarf hali tasdiqlanmagan taxmin — buni oʻzim ochiq aytaman, pilotda aniqlayman.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 aqlli qaror shu: fiks haq. Ozuqaning 60% import boʻlgani uchun goʻsht narxi valyutaga bogʻlangan — bu riskni oʻz zimmamizga olmaymiz. Narx 80 000 boʻlsa, bizning ulushimiz 3% ga tushadi, daromadimiz esa oʻzgarmaydi. Halol javob: 35 kg buyurtma sovuq kuryerni qoplamaydi, shuning uchun minimal buyurtma 100 kg yoki bitta yoʻnalishda 3 ta restoran. Qassob xizmatidan ham komissiya olamiz. Yetkazish tannarxini birinchi 20 tranzaksiyada oʻlchaymiz.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Goʻsht va tirik chorvaga ixtisoslashgan marketplace hali yoʻq. Muhim texnik nuqta: umumiy yetkazish ilovalari bu bozorga tuzilishi sababli kira olmaydi — 2,5 kg uchun mol soʻyib boʻlmaydi. Agar disintermediatsiya haqida soʻrashsa: bu risk emas, tabiiy qonuniyat; bizni ushlab turadigan narsa escrow emas, logistika va qassob tarmogʻi. Takror xarid foizini birinchi 100 tranzaksiyada oʻlchayman; agar past chiqsa, model notoʻgʻri.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YC odamga pul beradi, gʻoyaga emas. Tezlikni koʻrsating: bir kunda WebSocket chat va ikkala klientni yozib chiqdim, bitta commitda kuryer tizimini. 69 commit, 2 oy, bitta muhandis. Keyin bitta shaxsiy jumla ayting — nega aynan goʻsht. Hammuassisingiz nima qilishini aniq ayting: kim fermer va restoran bilan ishlaydi, kim kod yozadi.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Sotuvchi yollamayman: birinchi 100 ta restoranni oʻzim topaman, aks holda nima ishlayotganini bilmay qolaman. 12 oylik reja oddiy: 1–3-oy qoʻlda pilot (20 restoran, 10 fermer), 4–6-oy Payme va Click ulanadi, App Store'ga chiqamiz, 7–12-oy Toshkent boʻylab kengayamiz va 200 restoranga yetamiz. Bitta metrika — haftalik tranzaksiya soni. Agar 18 oyda u oʻsmasa, biz xato qilgan boʻlamiz va buni tez bilamiz. Yakunda ayting: bizga hozir pul emas, birinchi yuzta tranzaksiya kerak — uni shu oyda qilamiz.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03120"/>
            <a:ext cx="1463040" cy="635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241280" cy="1350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Restoran goʻshtni fermerdan oladi. Vositachisiz.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48328"/>
            <a:ext cx="9144000" cy="769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Fermer, qassob va restoranni bitta ilovada bogʻlaydigan marketplace. Toshkentdan boshlaymiz.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80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MEAT-FLOW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59502"/>
            <a:ext cx="10545775" cy="829818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ismingiz, hammuassislaringiz ismi va bir qatorlik kontakt: telefon + Telegram. Investor kim gapirayotganini birinchi slayddayoq bilishi kerak.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MUAMMO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1293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Fermer bilan restoran orasida 5 ta vositachi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4696"/>
            <a:ext cx="9326880" cy="3782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Toshkentda bir kg goʻsht — 65 000 dan 130 000 soʻmgacha. Bitta shahar ichida.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18662"/>
            <a:ext cx="10545775" cy="1052703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5 ta restoran egasi bilan gaplashing va bittasining aynan oʻz gapini shu slaydga katta harflar bilan qoʻying. Masalan: «Har hafta 15 kg goʻshtni chiqindiga tashlayman, chunki yetkazib beruvchi nima boʻlsa, shuni olib keladi». Bitta jonli gap butun statistika jadvalidan kuchliroq ishlaydi.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NEGA HOZIR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620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Goʻsht yetarli. Zanjir buzuq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1596"/>
            <a:ext cx="932688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Manba: Statistika agentligi, Bojxona qoʻmitasi, Qishloq xoʻjaligi vazirligi, 2024–2025.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48000"/>
            <a:ext cx="3259226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$869 mln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29304"/>
            <a:ext cx="3259226" cy="29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2025-yilgi goʻsht importi, +70,6%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6234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3048000"/>
            <a:ext cx="3259226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+3,9%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829304"/>
            <a:ext cx="3259226" cy="29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Ichki ishlab chiqarish, 2,9 mln tonna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9508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9508" y="3048000"/>
            <a:ext cx="3259226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9508" y="3829304"/>
            <a:ext cx="3259226" cy="29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Chorva ozuqasi —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YECHIM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1185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Mol butun. Shuning uchun buyurtmalarni jamlaymiz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67000"/>
            <a:ext cx="932688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Ortgan qismini fermer bozorga chiqaradi — risk bizda 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30524"/>
            <a:ext cx="1875068" cy="123444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3970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Fermer chorvasini ilovaga joylaydi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8028" y="39105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636" y="3430524"/>
            <a:ext cx="18750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3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Restoran buyurtma beradi — pul escrowda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5705" y="39105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8313" y="3430524"/>
            <a:ext cx="1875068" cy="123444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3970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Buyurtmalar bir mol vazniga yetadi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3381" y="39105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5989" y="3430524"/>
            <a:ext cx="18750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3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Qassob soʻyadi, kuryer sovuq zanjirda yetkazadi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1058" y="39105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3666" y="3430524"/>
            <a:ext cx="1875068" cy="123444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3970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Xaridor tasdiqlaydi — pul oʻtadi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MAHSULOT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1185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9 bosqichli buyurtma tizimi production'da ishlayapti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67000"/>
            <a:ext cx="932688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Uchta klient, bitta backend. Toʻlovdan boshqa hammasi ulangan.</a:t>
            </a:r>
          </a:p>
        </p:txBody>
      </p:sp>
      <p:sp>
        <p:nvSpPr>
          <p:cNvPr id="6" name="Oval 5"/>
          <p:cNvSpPr/>
          <p:nvPr/>
        </p:nvSpPr>
        <p:spPr>
          <a:xfrm>
            <a:off x="859536" y="3346323"/>
            <a:ext cx="118872" cy="118872"/>
          </a:xfrm>
          <a:prstGeom prst="ellipse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3247644"/>
            <a:ext cx="9509760" cy="3509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Xaridor: savat, yetkazish, kuzatuv, chat</a:t>
            </a:r>
          </a:p>
        </p:txBody>
      </p:sp>
      <p:sp>
        <p:nvSpPr>
          <p:cNvPr id="8" name="Oval 7"/>
          <p:cNvSpPr/>
          <p:nvPr/>
        </p:nvSpPr>
        <p:spPr>
          <a:xfrm>
            <a:off x="859536" y="3916680"/>
            <a:ext cx="118872" cy="118872"/>
          </a:xfrm>
          <a:prstGeom prst="ellipse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818001"/>
            <a:ext cx="9509760" cy="3509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Hamkor: fermer va qassob uchun buyurtma paneli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4487037"/>
            <a:ext cx="118872" cy="118872"/>
          </a:xfrm>
          <a:prstGeom prst="ellipse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4388358"/>
            <a:ext cx="9509760" cy="3509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Kuryer: navbat, status, yetkazish isboti (foto)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5057394"/>
            <a:ext cx="118872" cy="118872"/>
          </a:xfrm>
          <a:prstGeom prst="ellipse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4958715"/>
            <a:ext cx="9509760" cy="3509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Nol tranzaksiya — 3 haftada 20 ta savdo qilamiz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36617"/>
            <a:ext cx="10545775" cy="1052703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telefondan 3 ta ekran skrinshotini oling: menyu, buyurtma kuzatuvi, kuryer isbot-fotosi. ./run_prod.sh ishga tushiring, real listinglar bor. 20 daqiqalik ish — 17 bet matndan kuchliroq. Demo havolasini ham qoʻying.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BOZOR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620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500 restoran — yiliga $5,7 mln GMV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1596"/>
            <a:ext cx="932688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Pastdan yuqoriga hisob, TAM emas. Boshlangʻich ikki raqam hali taxmin.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48000"/>
            <a:ext cx="2348407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4 000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29304"/>
            <a:ext cx="2348407" cy="542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Toshkentdagi restoran va toʻyxona (taxmin)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5415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5415" y="3048000"/>
            <a:ext cx="2348407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200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415" y="3829304"/>
            <a:ext cx="2348407" cy="542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Bitta restoranning oylik sarfi (taxmin)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1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7871" y="3048000"/>
            <a:ext cx="2348407" cy="639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$5,7 mln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7871" y="3778504"/>
            <a:ext cx="2348407" cy="542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Yillik GMV, 500 restoran bilan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0327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0327" y="3048000"/>
            <a:ext cx="2348407" cy="689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$230K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0327" y="3829304"/>
            <a:ext cx="2348407" cy="542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Bizning yillik daromadimiz, 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27880"/>
            <a:ext cx="10545775" cy="1052703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Toshkentdagi restoran sonini haqiqiy manbadan oling (soliq bazasi, 2GIS, tuman hokimligi) va oyiga necha kg goʻsht olishini 10 ta restorandan soʻrang. Ikkala raqamni manbasi bilan almashtiring — shunda butun slayd taxmindan hisobga aylanadi.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BIZNES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620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Foiz emas — har kilodan 2 400 soʻm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1596"/>
            <a:ext cx="932688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35 kg buyurtma bizga foyda keltirmaydi. Minimal buyurtmamiz — 100 kg.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48000"/>
            <a:ext cx="3259226" cy="53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2 400 soʻm/kg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76904"/>
            <a:ext cx="3259226" cy="29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B2B restoran — fiks haq (bugun ≈4%)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6234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3048000"/>
            <a:ext cx="3259226" cy="626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84 000 soʻm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765804"/>
            <a:ext cx="3259226" cy="542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35 kg buyurtmadan tushadigan daromad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9508" y="2773680"/>
            <a:ext cx="457200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9508" y="3048000"/>
            <a:ext cx="3259226" cy="53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4 800 soʻm/kg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9508" y="3676904"/>
            <a:ext cx="3259226" cy="298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B2C uy xoʻjaligi — fiks haq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64380"/>
            <a:ext cx="10545775" cy="1052703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birinchi 20 ta tranzaksiyadan keyin bu raqamlarni haqiqiysiga almashtiring: oʻrtacha chek, real olingan komissiya, bitta yetkazishning tannarxi, zarar koʻrgan buyurtmalar soni. Chala boʻlsa ham real raqam — mukammal modeldan ishonchliroq.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NEGA BIZ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1185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Raqobatchimiz — norasmiy bozor, boshqa ilova emas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758440"/>
          <a:ext cx="1054577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621792">
                <a:tc>
                  <a:txBody>
                    <a:bodyPr/>
                    <a:lstStyle/>
                    <a:p>
                      <a:r>
                        <a:rPr sz="1250" b="1" spc="60">
                          <a:solidFill>
                            <a:srgbClr val="FFFFFF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Bugun nimadan foydalaniladi</a:t>
                      </a:r>
                    </a:p>
                  </a:txBody>
                  <a:tcPr marL="146304" marR="146304" anchor="ctr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spc="60">
                          <a:solidFill>
                            <a:srgbClr val="FFFFFF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Nima yetishmaydi</a:t>
                      </a:r>
                    </a:p>
                  </a:txBody>
                  <a:tcPr marL="146304" marR="146304" anchor="ctr">
                    <a:solidFill>
                      <a:srgbClr val="1414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Mol bozori, tanish vositachi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Narx yopiq, sertifikat tekshirilmaydi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Korzinka, Havas, Makro</a:t>
                      </a:r>
                    </a:p>
                  </a:txBody>
                  <a:tcPr marL="146304" marR="146304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95–130 ming soʻm/kg</a:t>
                      </a:r>
                    </a:p>
                  </a:txBody>
                  <a:tcPr marL="146304" marR="146304" anchor="ctr">
                    <a:solidFill>
                      <a:srgbClr val="FAFA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Yandex Eda, Tezyetkaz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Xom goʻsht yoʻq, sovuq zanjir yoʻq</a:t>
                      </a:r>
                    </a:p>
                  </a:txBody>
                  <a:tcPr marL="146304" marR="14630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Telegram guruhlar</a:t>
                      </a:r>
                    </a:p>
                  </a:txBody>
                  <a:tcPr marL="146304" marR="146304" anchor="ctr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41416"/>
                          </a:solidFill>
                          <a:latin typeface="Helvetica Neue"/>
                          <a:cs typeface="Helvetica Neue"/>
                          <a:ea typeface="Helvetica Neue"/>
                        </a:rPr>
                        <a:t>Kafolat yoʻq; qassob va kuryer yoʻq</a:t>
                      </a:r>
                    </a:p>
                  </a:txBody>
                  <a:tcPr marL="146304" marR="146304" anchor="ctr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JAMOA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674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Mahsulotni 2 oyda oʻzim yozdim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5444"/>
            <a:ext cx="9326880" cy="701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69 commit, 3 ta ilova, bitta muhandis. Hammuassisim — biznes va operatsiya tomonida.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22752"/>
            <a:ext cx="10545775" cy="1052703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uchta narsani yozing. Birinchi: ikkalangizning ismingiz, kim nima qiladi, qayerda ishlagansiz. Ikkinchi: nega aynan goʻsht bozori — oilangizda chorvador bormi, restoran ishlatganmisiz? Bitta shaxsiy hikoya butun bozor tahlilidan qimmatroq. Uchinchi: jamoada yana kim bor va kim yetishmaydi.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 cap="all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NIMA SOʻRAYMIZ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566928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$400K soʻraymiz. 18 oylik runway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82368"/>
            <a:ext cx="9326880" cy="701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Toʻlov ishlaydi, 200 restoran savdo qiladi, unit economics real tranzaksiyalardan chiqadi.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0532"/>
            <a:ext cx="402336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96564"/>
            <a:ext cx="2362123" cy="5996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40% — muhandis va toʻlov integratsiyasi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0843" y="3240532"/>
            <a:ext cx="402336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3496564"/>
            <a:ext cx="2362123" cy="8721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30% — operatsiya: kuryer, sovuq zanjir, qassob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3240532"/>
            <a:ext cx="402336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3496564"/>
            <a:ext cx="2362123" cy="8721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20% — birinchi 100 restoranni oʻzim jalb qilaman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611" y="3240532"/>
            <a:ext cx="402336" cy="38100"/>
          </a:xfrm>
          <a:prstGeom prst="rect">
            <a:avLst/>
          </a:prstGeom>
          <a:solidFill>
            <a:srgbClr val="B5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611" y="3496564"/>
            <a:ext cx="2362123" cy="32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41416"/>
                </a:solidFill>
                <a:latin typeface="Helvetica Neue"/>
                <a:cs typeface="Helvetica Neue"/>
                <a:ea typeface="Helvetica Neue"/>
              </a:rPr>
              <a:t>10% — zaxira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42993"/>
            <a:ext cx="10545775" cy="829818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B52B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14630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52B27"/>
                </a:solidFill>
                <a:latin typeface="Helvetica Neue"/>
                <a:cs typeface="Helvetica Neue"/>
                <a:ea typeface="Helvetica Neue"/>
              </a:rPr>
              <a:t>BU YER SIZ UCHUN — 18 oylik xarajatni oʻzingiz hisoblang: oylik burn × 18. Agar $400K yetmasa, $600K soʻrang. Kam soʻrab yarim yoʻlda qolish — eng yomoni.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4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MEAT-FLOW</a:t>
            </a:r>
            <a:r>
              <a:rPr sz="950" b="0">
                <a:solidFill>
                  <a:srgbClr val="6B6B73"/>
                </a:solidFill>
                <a:latin typeface="Helvetica Neue"/>
                <a:cs typeface="Helvetica Neue"/>
                <a:ea typeface="Helvetica Neue"/>
              </a:rPr>
              <a:t>     ·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